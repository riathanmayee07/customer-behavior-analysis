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ubot Sans ExtraLight"/>
      <p:regular r:id="rId201314"/>
    </p:embeddedFont>
    <p:embeddedFont>
      <p:font typeface="Hubot Sans"/>
      <p:regular r:id="rId201315"/>
    </p:embeddedFont>
    <p:embeddedFont>
      <p:font typeface="Hubot Sans Medium"/>
      <p:regular r:id="rId201316"/>
    </p:embeddedFont>
    <p:embeddedFont>
      <p:font typeface="Hubot Sans SemiBold"/>
      <p:regular r:id="rId201317"/>
    </p:embeddedFont>
    <p:embeddedFont>
      <p:font typeface="Hubot Sans Bold"/>
      <p:regular r:id="rId201318"/>
    </p:embeddedFont>
    <p:embeddedFont>
      <p:font typeface="Hubot Sans ExtraBold"/>
      <p:regular r:id="rId201319"/>
    </p:embeddedFont>
    <p:embeddedFont>
      <p:font typeface="Hubot Sans Black"/>
      <p:regular r:id="rId201320"/>
    </p:embeddedFont>
    <p:embeddedFont>
      <p:font typeface="Hubot Sans Light"/>
      <p:regular r:id="rId201321"/>
    </p:embeddedFont>
    <p:embeddedFont>
      <p:font typeface="Roboto Condensed Thin"/>
      <p:regular r:id="rId201322"/>
    </p:embeddedFont>
    <p:embeddedFont>
      <p:font typeface="Roboto Condensed ExtraLight"/>
      <p:regular r:id="rId201323"/>
    </p:embeddedFont>
    <p:embeddedFont>
      <p:font typeface="Roboto Condensed Light"/>
      <p:regular r:id="rId201324"/>
    </p:embeddedFont>
    <p:embeddedFont>
      <p:font typeface="Roboto Condensed"/>
      <p:regular r:id="rId201325"/>
    </p:embeddedFont>
    <p:embeddedFont>
      <p:font typeface="Roboto Condensed Medium"/>
      <p:regular r:id="rId201326"/>
    </p:embeddedFont>
    <p:embeddedFont>
      <p:font typeface="Roboto Condensed SemiBold"/>
      <p:regular r:id="rId201327"/>
    </p:embeddedFont>
    <p:embeddedFont>
      <p:font typeface="Roboto Condensed Bold"/>
      <p:regular r:id="rId201328"/>
    </p:embeddedFont>
    <p:embeddedFont>
      <p:font typeface="Roboto Condensed ExtraBold"/>
      <p:regular r:id="rId201329"/>
    </p:embeddedFont>
    <p:embeddedFont>
      <p:font typeface="Roboto Condensed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Uncovering spending patterns, segments, and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03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77727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2226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577727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660553" y="22226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79849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496119" y="3443436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37499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553" y="279849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4660553" y="3443436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6119" y="413623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Demographics, purchase details, and shopping behavior across 4 product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165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PREPARATION IN PYTHON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115145"/>
            <a:ext cx="2290465" cy="1053182"/>
          </a:xfrm>
          <a:prstGeom prst="roundRect">
            <a:avLst>
              <a:gd name="adj" fmla="val 201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2256904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CLEAN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563416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Imputed missing Review Ratings by category median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2115145"/>
            <a:ext cx="2290539" cy="1053182"/>
          </a:xfrm>
          <a:prstGeom prst="roundRect">
            <a:avLst>
              <a:gd name="adj" fmla="val 2019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2256904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ENGINEER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563416"/>
            <a:ext cx="2007022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DBDBD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3100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4518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INTEGRATE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75835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Loaded cleaned DataFrame into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MALE CUSTOMERS DRIVE 2× MORE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061790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Male: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vs. Female: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$75,191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significant gap worth investigating for targeted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20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PRODUCT &amp; SHIPPING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6474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29554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SHIPPING COMPARISON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65876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Express: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$60.48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avg purchase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Standard: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avg purchase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434828"/>
            <a:ext cx="3902943" cy="19050"/>
          </a:xfrm>
          <a:prstGeom prst="roundRect">
            <a:avLst>
              <a:gd name="adj" fmla="val 50000"/>
            </a:avLst>
          </a:prstGeom>
          <a:solidFill>
            <a:srgbClr val="55575A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749701" y="264876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49701" y="301198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Hat (50%), Sneakers (49.7%), Coat (49.1%)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2339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921966"/>
            <a:ext cx="2290465" cy="821606"/>
          </a:xfrm>
          <a:prstGeom prst="roundRect">
            <a:avLst>
              <a:gd name="adj" fmla="val 258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2063725"/>
            <a:ext cx="20069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374999"/>
            <a:ext cx="20069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921966"/>
            <a:ext cx="2290539" cy="821606"/>
          </a:xfrm>
          <a:prstGeom prst="roundRect">
            <a:avLst>
              <a:gd name="adj" fmla="val 258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2063725"/>
            <a:ext cx="2007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🔁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374999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885331"/>
            <a:ext cx="4722763" cy="821606"/>
          </a:xfrm>
          <a:prstGeom prst="roundRect">
            <a:avLst>
              <a:gd name="adj" fmla="val 258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027090"/>
            <a:ext cx="44392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33836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25119" y="386640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839 customers used discounts yet spent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above average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— high-value discount users.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Avg spend is nearly identical: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$59.49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vs.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$59.87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Non-subscribers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2.7× more total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due to volume.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580977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E7E7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79603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74394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958 repeat buyers (&gt;5 purchases) are not subscribed — conversion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BY AGE GROUP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28689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Young Adults lead revenue, but all groups contribute relatively evenly — broad targeting works.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085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POWER BI DASHBOARD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8997"/>
            <a:ext cx="5179516" cy="27874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0767" y="1219572"/>
            <a:ext cx="263187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METRICS VISUALIZED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0767" y="1592089"/>
            <a:ext cx="2631877" cy="8940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55544" y="1750665"/>
            <a:ext cx="223852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255544" y="2106067"/>
            <a:ext cx="2238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Avg purchase $59.76, avg rating 3.75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0767" y="2623468"/>
            <a:ext cx="2631877" cy="8940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55544" y="2782044"/>
            <a:ext cx="223852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255544" y="3137446"/>
            <a:ext cx="2238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Clothing leads at ~$90K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0767" y="3654847"/>
            <a:ext cx="2631877" cy="8940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55544" y="3813423"/>
            <a:ext cx="223852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SUBSCRIPTION SPLIT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255544" y="4168825"/>
            <a:ext cx="22385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27% Yes · 73% No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2907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7658" y="162907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27658" y="193558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4591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7658" y="244591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027658" y="275242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262759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27658" y="35692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4079602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7658" y="4079602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1027658" y="43861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2026-07-28T15:24:52Z</dcterms:created>
  <dcterms:modified xsi:type="dcterms:W3CDTF">2026-07-28T15:24:52Z</dcterms:modified>
</cp:coreProperties>
</file>